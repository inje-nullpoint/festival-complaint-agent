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철철철 팀입니다. 축제 민원을 심각도로 정리하는 AI 에이전트를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축제에는 주차·가격 민원이 많고 안전 민원은 적습니다. 건수 순으로 보면 어두운 길이나 인파 밀림 같은 안전 민원이 뒤로 밀립니다. 기존 민원 창구는 처리에 1~2주가 걸려 3~10일짜리 축제 안에 조치가 끝나기 어렵습니다.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사용자는 축제 운영 담당 주무관입니다. 방문객은 QR로 이름 없이 민원을 남깁니다. 에이전트의 목표는 민원을 분류하고 심각도로 순위를 매겨, 지금 할 일과 담당 부서 요청서를 만드는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기능은 다섯 가지입니다. QR 접수와 개인정보 가림, 모델 분류, 심각도 판정, 관제 카드와 브리핑, 그리고 담당 부서 조치요청서 자동 작성입니다.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접수와 분류는 바로 처리하고, 판단은 주기마다 따로 돕니다. 계획 에이전트가 이번 주기에 할 일을 정하고, 감시·조치·통합 에이전트가 각자 도구를 불러 결과를 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심각도 점수는 모델이 정하지 않습니다. 감시 에이전트가 계산 함수를 도구로 부르고, 같은 입력이면 항상 같은 점수가 나옵니다. 안전 가중과 즉시 규칙은 행정안전부 매뉴얼과 가이드라인을 대조해 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비슷한 과거 민원을 기억으로 참고하고, 운영자가 정한 유형을 먼저 씁니다. 조치가 30분 없으면 점수가 올라갑니다. 연락처는 저장 전에 가리고, 대피 같은 고위험 조치는 AI가 제안만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(영상 내레이션)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개발용 합성 데이터에서 건수 1위는 주차였지만 심각도 1위는 안전이었습니다. 가중치를 위아래 20% 바꿔도 81개 조합 모두 같은 결론이었습니다. 이태원 참사 당일 공개된 112 신고를 시간순으로 넣었을 때 첫 신고 시각인 18시 34분에 ‘즉시’가 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구역·부서·유형이 설정 데이터라 다른 축제로 옮길 때 코드를 고치지 않습니다. 고객은 시군 축제 부서이고, 행사 단위로 시작해 연간 구독으로 넓힙니다. 아직 합성 데이터로만 검증했고 지연도 다섯 번만 쟀습니다. 실제 축제 민원으로 다시 검증하는 것이 다음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축제 민원 관제 AI Agent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건수가 아니라 심각도로 본다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철철철 · 대학부 · 지정분야 ⑤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강은진·김동우 2인 공동 개발(설계·개발·시험 공동)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인제대학교</a:t>
            </a:r>
            <a:endParaRPr lang="en-US" sz="2000" dirty="0"/>
          </a:p>
        </p:txBody>
      </p:sp>
      <p:pic>
        <p:nvPicPr>
          <p:cNvPr id="8" name="Picture 7" descr="_s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2474" y="1188720"/>
            <a:ext cx="5301846" cy="3647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4937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실모델·시연 DB·가상 민원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민원은 적게 들어와서 묻힌다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건수 순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19202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 순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주차/교통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377440" y="2651760"/>
            <a:ext cx="24688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3776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54건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377440" y="3474720"/>
            <a:ext cx="502920" cy="54864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7180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11건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 안전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0" y="2651760"/>
            <a:ext cx="24688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789920" y="26517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주차/교통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229600" y="3474720"/>
            <a:ext cx="1097280" cy="548640"/>
          </a:xfrm>
          <a:prstGeom prst="rect">
            <a:avLst/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1832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뒤로 밀린다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42976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맨 위로 올라온다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국민신문고 처리기간 일반 7~14일</a:t>
            </a:r>
            <a:endParaRPr lang="en-US" sz="2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합성 시드 160건 · 규칙 분류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사용자와 목표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먼저 할 일을 바로 본다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223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축제 운영 담당 주무관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 확인 · 조치 지시 · 요청서 발송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운영요원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조치 상태 변경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방문객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QR로 민원 접수 (이름·연락처 없음)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023360"/>
            <a:ext cx="1106424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402336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Goal  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민원을 받아 분류하고, 건수가 아니라 심각도로 순위를 매겨 ‘지금 조치할 일’과 담당 부서 요청서를 만든다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54864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1위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건수에 묻히지 않음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3756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47472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81/81 유지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±20% 81개 조합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2648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6364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96.9%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합성 32건 분류 정확도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915400" y="5349240"/>
            <a:ext cx="269748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052560" y="53949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p90 11.3초</a:t>
            </a:r>
            <a:endParaRPr lang="en-US" sz="2400" dirty="0"/>
          </a:p>
        </p:txBody>
      </p:sp>
      <p:sp>
        <p:nvSpPr>
          <p:cNvPr id="19" name="Text 15"/>
          <p:cNvSpPr txBox="1"/>
          <p:nvPr/>
        </p:nvSpPr>
        <p:spPr>
          <a:xfrm>
            <a:off x="9052560" y="5852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후 10초 이내 분류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성공지표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5개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접수부터 요청서까지 한 흐름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3444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접수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마스킹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개인정보를 저장 전에 가림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65176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278892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과거 민원 참고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89204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502920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1500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71500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심각도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규칙으로 계산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0"/>
          <p:cNvSpPr/>
          <p:nvPr/>
        </p:nvSpPr>
        <p:spPr>
          <a:xfrm>
            <a:off x="726948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5528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Text 23"/>
          <p:cNvSpPr txBox="1"/>
          <p:nvPr/>
        </p:nvSpPr>
        <p:spPr>
          <a:xfrm>
            <a:off x="736092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조치할 일 카드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브리핑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40664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먼저 할 일 순서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9372600" y="3474720"/>
            <a:ext cx="137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6"/>
          <p:cNvSpPr/>
          <p:nvPr/>
        </p:nvSpPr>
        <p:spPr>
          <a:xfrm>
            <a:off x="9509760" y="2103120"/>
            <a:ext cx="210312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195560" y="2377440"/>
            <a:ext cx="731520" cy="7315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0195560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0" y="33375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조치요청서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DOCX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9646920" y="4434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부서로 보낼 문서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구조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다섯 개가 도구를 골라 쓴다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 Path — 접수 즉시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Path — 주기마다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19456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접수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마스킹 후 저장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017520" y="2194560"/>
            <a:ext cx="2194560" cy="123444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10896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2743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큐 처리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12080" y="26060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5486400" y="2194560"/>
            <a:ext cx="329184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7784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분류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2743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get_pending · save_classification · lookup_similar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023360"/>
            <a:ext cx="210312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114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⓪ 계획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5720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plan_cycle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65176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2926080" y="4023360"/>
            <a:ext cx="26517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1752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감시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017520" y="4572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get_window_stats · score_label · raise_alert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5852160" y="4023360"/>
            <a:ext cx="274320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94360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조치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0" y="4572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write_request · generate_doc · collect_quotes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8595360" y="4434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30" name="Shape 27"/>
          <p:cNvSpPr/>
          <p:nvPr/>
        </p:nvSpPr>
        <p:spPr>
          <a:xfrm>
            <a:off x="8869680" y="4023360"/>
            <a:ext cx="274320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6112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통합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8961120" y="4572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rank_issues · write_briefing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모델: Claude Opus 5.5 (Claude Code CLI 경유)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경유 · 도구 이름은 기술설명서와 같음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판단은 에이전트, 계산은 함수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점수는 AI가 아니라 공개된 계산식이 정한다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기본점수 = 빈도 60% + 부정강도 40%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관련 ×2.0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급증(최근 15분이 지난 60분 평균의 2배 이상) ×1.5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구역 안전 민원 1시간 3건 → 점수와 무관하게 즉시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긍정 민원은 심각도에서 제외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S-06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미조치 30분 경과 ×1.2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12080"/>
            <a:ext cx="11064240" cy="68580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31520" y="52120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계산식  점수 = (빈도 × 60% + 강도 × 40%) × 안전 2.0 × 급증 1.5 × 미조치 1.2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행정안전부 인파관리 매뉴얼 · 가이드라인 대조 (심각도_기준_양식.md)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기억·피드백·안전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판단이 다음 판정에 돌아간다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926080" y="22860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92608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5303520" y="22860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 지정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0" y="22860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7680960" y="2286000"/>
            <a:ext cx="201168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80960" y="2286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피드백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548640" y="3886200"/>
            <a:ext cx="2011680" cy="822960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3886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상태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388620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8"/>
          <p:cNvSpPr/>
          <p:nvPr/>
        </p:nvSpPr>
        <p:spPr>
          <a:xfrm>
            <a:off x="2926080" y="3886200"/>
            <a:ext cx="201168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26080" y="3886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S-06 미조치 ×1.2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5029200"/>
            <a:ext cx="110642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50749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마스킹: 연락처는 저장 전에 가림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인젝션 탐지</a:t>
            </a:r>
            <a:endParaRPr lang="en-US" sz="18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조치(대피 등)는 AI가 제안만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판단 → 도구 → 결과</a:t>
            </a:r>
            <a:endParaRPr lang="en-US" sz="2200" dirty="0"/>
          </a:p>
        </p:txBody>
      </p:sp>
      <p:pic>
        <p:nvPicPr>
          <p:cNvPr id="11" name="Picture 10" descr="_slid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7315200" cy="4114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138160" y="1828800"/>
            <a:ext cx="3474720" cy="2377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 txBox="1"/>
          <p:nvPr/>
        </p:nvSpPr>
        <p:spPr>
          <a:xfrm>
            <a:off x="8138160" y="18288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시연영상_철철철.mp4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8138160" y="32461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(2분 29초)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138160" y="4389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영상 · 3분 이내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실모델·시연 DB·가상 민원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안전이 1위로 올라온다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47548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18288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 1위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심각도 1위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주차/교통 54건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안전 11건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높음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182880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806440" y="1901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5/5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5806440" y="24505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시험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686800" y="182880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823960" y="19019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96.9%</a:t>
            </a:r>
            <a:endParaRPr lang="en-US" sz="280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45059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(합성 32건 기준 참고값)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669280" y="324612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06440" y="3319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26/26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5806440" y="38679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점검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686800" y="324612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823960" y="33192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81/81</a:t>
            </a:r>
            <a:endParaRPr lang="en-US" sz="280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86791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±20% 유지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69280" y="4663440"/>
            <a:ext cx="2926080" cy="1325880"/>
          </a:xfrm>
          <a:prstGeom prst="rect">
            <a:avLst/>
          </a:prstGeom>
          <a:solidFill>
            <a:srgbClr val="F2F2F2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06440" y="4736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18:34</a:t>
            </a:r>
            <a:endParaRPr lang="en-US" sz="2800" dirty="0"/>
          </a:p>
        </p:txBody>
      </p:sp>
      <p:sp>
        <p:nvSpPr>
          <p:cNvPr id="20" name="Text 16"/>
          <p:cNvSpPr txBox="1"/>
          <p:nvPr/>
        </p:nvSpPr>
        <p:spPr>
          <a:xfrm>
            <a:off x="5806440" y="52852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이태원 112 녹취 재현, 첫 신고 즉시 (규칙 분류로 재현)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합성 시드 160건 · 규칙 분류 · 실제 축제 민원이 아님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모델·한계·발전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설정만 바꿔 다음 축제로 옮긴다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4028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 시군 축제 부서 (경남 18개 시군 · 축제 135개)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  행사 패키지 → 연간 구독 (금액은 실증 후)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 경남 시군 축제 → 지자체 상시 민원 → 대규모 행사 일반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보완 계획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40280"/>
          <a:ext cx="53035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56032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보완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데이터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민원으로 재측정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5회 측정, p90 11.3초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20회 이상 재측정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 경유 호출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직접 호출로 전환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관리자 로그인 없음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Supabase Auth 적용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완료보고서 5.3 · 비즈니스모델.md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실시간 축제 민원 관제 AI Agent</dc:title>
  <dc:subject>PptxGenJS Presentation</dc:subject>
  <dc:creator>철철철</dc:creator>
  <cp:lastModifiedBy>철철철</cp:lastModifiedBy>
  <cp:revision>1</cp:revision>
  <dcterms:created xsi:type="dcterms:W3CDTF">2026-10-05T13:06:41Z</dcterms:created>
  <dcterms:modified xsi:type="dcterms:W3CDTF">2026-10-05T13:06:41Z</dcterms:modified>
</cp:coreProperties>
</file>