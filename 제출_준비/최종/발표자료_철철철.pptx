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철철철 팀입니다. 축제 민원을 심각도로 정리하는 AI 에이전트를 만들었습니다.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축제에는 주차·가격 민원이 많고 안전 민원은 적습니다. 건수 순으로 보면 어두운 길이나 인파 밀림 같은 안전 민원이 뒤로 밀립니다. 기존 민원 창구는 처리에 1~2주가 걸려 3~10일짜리 축제 안에 조치가 끝나기 어렵습니다.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사용자는 축제 운영 담당 주무관입니다. 방문객은 QR로 이름 없이 민원을 남깁니다. 에이전트의 목표는 민원을 분류하고 심각도로 순위를 매겨, 지금 할 일과 담당 부서 요청서를 만드는 것입니다.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핵심 기능은 다섯 가지입니다. QR 접수와 개인정보 가림, 모델 분류, 심각도 판정, 관제 카드와 브리핑, 그리고 담당 부서 조치요청서 자동 작성입니다.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접수와 분류는 바로 처리하고, 판단은 주기마다 따로 돕니다. 계획 에이전트가 이번 주기에 할 일을 정하고, 감시·조치·통합 에이전트가 각자 도구를 불러 결과를 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심각도 점수는 모델이 정하지 않습니다. 감시 에이전트가 계산 함수를 도구로 부르고, 같은 입력이면 항상 같은 점수가 나옵니다. 안전 가중과 즉시 규칙은 행정안전부 매뉴얼과 가이드라인을 대조해 정했습니다.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비슷한 과거 민원을 기억으로 참고하고, 운영자가 정한 유형을 먼저 씁니다. 조치가 30분 없으면 점수가 올라갑니다. 연락처는 저장 전에 가리고, 대피 같은 고위험 조치는 AI가 제안만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(영상 내레이션)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개발용 합성 데이터에서 건수 1위는 주차였지만 심각도 1위는 안전이었습니다. 가중치를 위아래 20% 바꿔도 81개 조합 모두 같은 결론이었습니다. 이태원 참사 당일 공개된 112 신고를 시간순으로 넣었을 때 첫 신고 시각인 18시 34분에 ‘즉시’가 떴습니다.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구역·부서·유형이 설정 데이터라 다른 축제로 옮길 때 코드를 고치지 않습니다. 고객은 시군 축제 부서이고, 행사 단위로 시작해 연간 구독으로 넓힙니다. 아직 합성 데이터로만 검증했고 지연도 다섯 번만 쟀습니다. 실제 축제 민원으로 다시 검증하는 것이 다음 단계입니다.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Relationship Id="rId4" Type="http://schemas.openxmlformats.org/officeDocument/2006/relationships/image" Target="../media/image1.png"/><Relationship Id="rId5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Relationship Id="rId4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822960"/>
            <a:ext cx="5760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실시간 축제 민원 관제 AI Agent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7432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건수가 아니라 심각도로 본다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023360"/>
            <a:ext cx="5760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 철철철 · 대학부 · 지정분야 ⑤</a:t>
            </a:r>
            <a:endParaRPr lang="en-US" sz="2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강은진·김동우 2인 공동 개발(설계·개발·시험 공동)</a:t>
            </a:r>
            <a:endParaRPr lang="en-US" sz="2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인제대학교</a:t>
            </a:r>
            <a:endParaRPr lang="en-US" sz="2000" dirty="0"/>
          </a:p>
        </p:txBody>
      </p:sp>
      <p:pic>
        <p:nvPicPr>
          <p:cNvPr id="8" name="Picture 7" descr="_s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2474" y="1188720"/>
            <a:ext cx="5301846" cy="364713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675120" y="49377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Code 실모델·시연 DB·가상 민원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 민원은 적게 들어와서 묻힌다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92024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건수 순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6400800" y="192024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심각도 순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65176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1위 주차/교통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2377440" y="2651760"/>
            <a:ext cx="2468880" cy="5486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 txBox="1"/>
          <p:nvPr/>
        </p:nvSpPr>
        <p:spPr>
          <a:xfrm>
            <a:off x="4937760" y="265176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54건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347472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2377440" y="3474720"/>
            <a:ext cx="502920" cy="548640"/>
          </a:xfrm>
          <a:prstGeom prst="rect">
            <a:avLst/>
          </a:prstGeom>
          <a:solidFill>
            <a:srgbClr val="A6A6A6"/>
          </a:solidFill>
          <a:ln w="12700">
            <a:solidFill>
              <a:srgbClr val="A6A6A6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2971800" y="347472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11건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6400800" y="265176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1위 안전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8229600" y="2651760"/>
            <a:ext cx="2468880" cy="5486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 txBox="1"/>
          <p:nvPr/>
        </p:nvSpPr>
        <p:spPr>
          <a:xfrm>
            <a:off x="10789920" y="265176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높음</a:t>
            </a:r>
            <a:endParaRPr lang="en-US" sz="2000" dirty="0"/>
          </a:p>
        </p:txBody>
      </p:sp>
      <p:sp>
        <p:nvSpPr>
          <p:cNvPr id="16" name="Text 13"/>
          <p:cNvSpPr txBox="1"/>
          <p:nvPr/>
        </p:nvSpPr>
        <p:spPr>
          <a:xfrm>
            <a:off x="6400800" y="347472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주차/교통</a:t>
            </a:r>
            <a:endParaRPr lang="en-US" sz="2000" dirty="0"/>
          </a:p>
        </p:txBody>
      </p:sp>
      <p:sp>
        <p:nvSpPr>
          <p:cNvPr id="17" name="Shape 14"/>
          <p:cNvSpPr/>
          <p:nvPr/>
        </p:nvSpPr>
        <p:spPr>
          <a:xfrm>
            <a:off x="8229600" y="3474720"/>
            <a:ext cx="1097280" cy="548640"/>
          </a:xfrm>
          <a:prstGeom prst="rect">
            <a:avLst/>
          </a:prstGeom>
          <a:solidFill>
            <a:srgbClr val="A6A6A6"/>
          </a:solidFill>
          <a:ln w="12700">
            <a:solidFill>
              <a:srgbClr val="A6A6A6"/>
            </a:solidFill>
            <a:prstDash val="solid"/>
          </a:ln>
        </p:spPr>
        <p:txBody>
          <a:bodyPr/>
          <a:p/>
        </p:txBody>
      </p:sp>
      <p:sp>
        <p:nvSpPr>
          <p:cNvPr id="18" name="Text 15"/>
          <p:cNvSpPr txBox="1"/>
          <p:nvPr/>
        </p:nvSpPr>
        <p:spPr>
          <a:xfrm>
            <a:off x="9418320" y="347472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보통</a:t>
            </a:r>
            <a:endParaRPr lang="en-US" sz="200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429768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안전이 뒤로 밀린다</a:t>
            </a:r>
            <a:endParaRPr lang="en-US" sz="2000" dirty="0"/>
          </a:p>
        </p:txBody>
      </p:sp>
      <p:sp>
        <p:nvSpPr>
          <p:cNvPr id="20" name="Text 17"/>
          <p:cNvSpPr txBox="1"/>
          <p:nvPr/>
        </p:nvSpPr>
        <p:spPr>
          <a:xfrm>
            <a:off x="6400800" y="429768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안전이 맨 위로 올라온다</a:t>
            </a:r>
            <a:endParaRPr lang="en-US" sz="2000" dirty="0"/>
          </a:p>
        </p:txBody>
      </p:sp>
      <p:sp>
        <p:nvSpPr>
          <p:cNvPr id="21" name="Shape 18"/>
          <p:cNvSpPr/>
          <p:nvPr/>
        </p:nvSpPr>
        <p:spPr>
          <a:xfrm>
            <a:off x="548640" y="5029200"/>
            <a:ext cx="11064240" cy="8229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22" name="Text 19"/>
          <p:cNvSpPr txBox="1"/>
          <p:nvPr/>
        </p:nvSpPr>
        <p:spPr>
          <a:xfrm>
            <a:off x="548640" y="50292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국민신문고 처리기간 일반 7~14일</a:t>
            </a:r>
            <a:endParaRPr lang="en-US" sz="2400" dirty="0"/>
          </a:p>
        </p:txBody>
      </p:sp>
      <p:sp>
        <p:nvSpPr>
          <p:cNvPr id="23" name="Text 20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개발용 합성 시드 160건 · 규칙 분류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사용자와 목표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운영자가 먼저 할 일을 바로 본다</a:t>
            </a:r>
            <a:endParaRPr lang="en-US" sz="2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64240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722376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사용자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하는 일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000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축제 운영 담당 주무관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우선순위 확인 · 조치 지시 · 요청서 발송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현장 운영요원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조치 상태 변경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방문객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QR로 민원 접수 (이름·연락처 없음)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548640" y="4023360"/>
            <a:ext cx="11064240" cy="868680"/>
          </a:xfrm>
          <a:prstGeom prst="rect">
            <a:avLst/>
          </a:prstGeom>
          <a:solidFill>
            <a:srgbClr val="F2F2F2"/>
          </a:solidFill>
          <a:ln w="9525">
            <a:solidFill>
              <a:srgbClr val="D0D0D0"/>
            </a:solidFill>
            <a:prstDash val="solid"/>
          </a:ln>
        </p:spPr>
        <p:txBody>
          <a:bodyPr/>
          <a:p/>
        </p:txBody>
      </p:sp>
      <p:sp>
        <p:nvSpPr>
          <p:cNvPr id="7" name="Text 3"/>
          <p:cNvSpPr txBox="1"/>
          <p:nvPr/>
        </p:nvSpPr>
        <p:spPr>
          <a:xfrm>
            <a:off x="731520" y="4023360"/>
            <a:ext cx="10698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Agent Goal  </a:t>
            </a:r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민원을 받아 분류하고, 건수가 아니라 심각도로 순위를 매겨 ‘지금 조치할 일’과 담당 부서 요청서를 만든다</a:t>
            </a:r>
            <a:endParaRPr lang="en-US" sz="1800" dirty="0"/>
          </a:p>
        </p:txBody>
      </p:sp>
      <p:sp>
        <p:nvSpPr>
          <p:cNvPr id="8" name="Shape 4"/>
          <p:cNvSpPr/>
          <p:nvPr/>
        </p:nvSpPr>
        <p:spPr>
          <a:xfrm>
            <a:off x="548640" y="5349240"/>
            <a:ext cx="269748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  <a:prstDash val="solid"/>
          </a:ln>
        </p:spPr>
        <p:txBody>
          <a:bodyPr/>
          <a:p/>
        </p:txBody>
      </p:sp>
      <p:sp>
        <p:nvSpPr>
          <p:cNvPr id="9" name="Text 5"/>
          <p:cNvSpPr txBox="1"/>
          <p:nvPr/>
        </p:nvSpPr>
        <p:spPr>
          <a:xfrm>
            <a:off x="685800" y="539496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 1위</a:t>
            </a:r>
            <a:endParaRPr lang="en-US" sz="2400" dirty="0"/>
          </a:p>
        </p:txBody>
      </p:sp>
      <p:sp>
        <p:nvSpPr>
          <p:cNvPr id="10" name="Text 6"/>
          <p:cNvSpPr txBox="1"/>
          <p:nvPr/>
        </p:nvSpPr>
        <p:spPr>
          <a:xfrm>
            <a:off x="685800" y="585216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안전이 건수에 묻히지 않음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3337560" y="5349240"/>
            <a:ext cx="269748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  <a:prstDash val="solid"/>
          </a:ln>
        </p:spPr>
        <p:txBody>
          <a:bodyPr/>
          <a:p/>
        </p:txBody>
      </p:sp>
      <p:sp>
        <p:nvSpPr>
          <p:cNvPr id="12" name="Text 8"/>
          <p:cNvSpPr txBox="1"/>
          <p:nvPr/>
        </p:nvSpPr>
        <p:spPr>
          <a:xfrm>
            <a:off x="3474720" y="539496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81/81 유지</a:t>
            </a:r>
            <a:endParaRPr lang="en-US" sz="2400" dirty="0"/>
          </a:p>
        </p:txBody>
      </p:sp>
      <p:sp>
        <p:nvSpPr>
          <p:cNvPr id="13" name="Text 9"/>
          <p:cNvSpPr txBox="1"/>
          <p:nvPr/>
        </p:nvSpPr>
        <p:spPr>
          <a:xfrm>
            <a:off x="3474720" y="585216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가중치 ±20% 81개 조합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6126480" y="5349240"/>
            <a:ext cx="269748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  <a:prstDash val="solid"/>
          </a:ln>
        </p:spPr>
        <p:txBody>
          <a:bodyPr/>
          <a:p/>
        </p:txBody>
      </p:sp>
      <p:sp>
        <p:nvSpPr>
          <p:cNvPr id="15" name="Text 11"/>
          <p:cNvSpPr txBox="1"/>
          <p:nvPr/>
        </p:nvSpPr>
        <p:spPr>
          <a:xfrm>
            <a:off x="6263640" y="539496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96.9%</a:t>
            </a:r>
            <a:endParaRPr lang="en-US" sz="2400" dirty="0"/>
          </a:p>
        </p:txBody>
      </p:sp>
      <p:sp>
        <p:nvSpPr>
          <p:cNvPr id="16" name="Text 12"/>
          <p:cNvSpPr txBox="1"/>
          <p:nvPr/>
        </p:nvSpPr>
        <p:spPr>
          <a:xfrm>
            <a:off x="6263640" y="585216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합성 32건 분류 정확도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8915400" y="5349240"/>
            <a:ext cx="269748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  <a:prstDash val="solid"/>
          </a:ln>
        </p:spPr>
        <p:txBody>
          <a:bodyPr/>
          <a:p/>
        </p:txBody>
      </p:sp>
      <p:sp>
        <p:nvSpPr>
          <p:cNvPr id="18" name="Text 14"/>
          <p:cNvSpPr txBox="1"/>
          <p:nvPr/>
        </p:nvSpPr>
        <p:spPr>
          <a:xfrm>
            <a:off x="9052560" y="539496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p90 11.3초</a:t>
            </a:r>
            <a:endParaRPr lang="en-US" sz="2400" dirty="0"/>
          </a:p>
        </p:txBody>
      </p:sp>
      <p:sp>
        <p:nvSpPr>
          <p:cNvPr id="19" name="Text 15"/>
          <p:cNvSpPr txBox="1"/>
          <p:nvPr/>
        </p:nvSpPr>
        <p:spPr>
          <a:xfrm>
            <a:off x="9052560" y="585216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접수 후 10초 이내 분류</a:t>
            </a:r>
            <a:endParaRPr lang="en-US" sz="1400" dirty="0"/>
          </a:p>
        </p:txBody>
      </p:sp>
      <p:sp>
        <p:nvSpPr>
          <p:cNvPr id="20" name="Text 16"/>
          <p:cNvSpPr txBox="1"/>
          <p:nvPr/>
        </p:nvSpPr>
        <p:spPr>
          <a:xfrm>
            <a:off x="548640" y="4983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성공지표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기능 5개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접수부터 요청서까지 한 흐름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548640" y="2103120"/>
            <a:ext cx="2103120" cy="3566160"/>
          </a:xfrm>
          <a:prstGeom prst="rect">
            <a:avLst/>
          </a:prstGeom>
          <a:solidFill>
            <a:srgbClr val="F2F2F2"/>
          </a:solidFill>
          <a:ln w="9525">
            <a:solidFill>
              <a:srgbClr val="D0D0D0"/>
            </a:solidFill>
            <a:prstDash val="solid"/>
          </a:ln>
        </p:spPr>
        <p:txBody>
          <a:bodyPr/>
          <a:p/>
        </p:txBody>
      </p:sp>
      <p:sp>
        <p:nvSpPr>
          <p:cNvPr id="6" name="Shape 3"/>
          <p:cNvSpPr/>
          <p:nvPr/>
        </p:nvSpPr>
        <p:spPr>
          <a:xfrm>
            <a:off x="1234440" y="2377440"/>
            <a:ext cx="731520" cy="73152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 txBox="1"/>
          <p:nvPr/>
        </p:nvSpPr>
        <p:spPr>
          <a:xfrm>
            <a:off x="1234440" y="23774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28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333756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QR 접수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마스킹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443484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개인정보를 저장 전에 가림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2651760" y="3474720"/>
            <a:ext cx="137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400" dirty="0"/>
          </a:p>
        </p:txBody>
      </p:sp>
      <p:sp>
        <p:nvSpPr>
          <p:cNvPr id="11" name="Shape 8"/>
          <p:cNvSpPr/>
          <p:nvPr/>
        </p:nvSpPr>
        <p:spPr>
          <a:xfrm>
            <a:off x="2788920" y="2103120"/>
            <a:ext cx="2103120" cy="3566160"/>
          </a:xfrm>
          <a:prstGeom prst="rect">
            <a:avLst/>
          </a:prstGeom>
          <a:solidFill>
            <a:srgbClr val="F2F2F2"/>
          </a:solidFill>
          <a:ln w="9525">
            <a:solidFill>
              <a:srgbClr val="D0D0D0"/>
            </a:solidFill>
            <a:prstDash val="solid"/>
          </a:ln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>
            <a:off x="3474720" y="2377440"/>
            <a:ext cx="731520" cy="73152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 txBox="1"/>
          <p:nvPr/>
        </p:nvSpPr>
        <p:spPr>
          <a:xfrm>
            <a:off x="3474720" y="23774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2800" dirty="0"/>
          </a:p>
        </p:txBody>
      </p:sp>
      <p:sp>
        <p:nvSpPr>
          <p:cNvPr id="14" name="Text 11"/>
          <p:cNvSpPr txBox="1"/>
          <p:nvPr/>
        </p:nvSpPr>
        <p:spPr>
          <a:xfrm>
            <a:off x="2880360" y="333756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분류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기억</a:t>
            </a:r>
            <a:endParaRPr lang="en-US" sz="2000" dirty="0"/>
          </a:p>
        </p:txBody>
      </p:sp>
      <p:sp>
        <p:nvSpPr>
          <p:cNvPr id="15" name="Text 12"/>
          <p:cNvSpPr txBox="1"/>
          <p:nvPr/>
        </p:nvSpPr>
        <p:spPr>
          <a:xfrm>
            <a:off x="2926080" y="443484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비슷한 과거 민원 참고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4892040" y="3474720"/>
            <a:ext cx="137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400" dirty="0"/>
          </a:p>
        </p:txBody>
      </p:sp>
      <p:sp>
        <p:nvSpPr>
          <p:cNvPr id="17" name="Shape 14"/>
          <p:cNvSpPr/>
          <p:nvPr/>
        </p:nvSpPr>
        <p:spPr>
          <a:xfrm>
            <a:off x="5029200" y="2103120"/>
            <a:ext cx="2103120" cy="3566160"/>
          </a:xfrm>
          <a:prstGeom prst="rect">
            <a:avLst/>
          </a:prstGeom>
          <a:solidFill>
            <a:srgbClr val="F2F2F2"/>
          </a:solidFill>
          <a:ln w="9525">
            <a:solidFill>
              <a:srgbClr val="D0D0D0"/>
            </a:solidFill>
            <a:prstDash val="solid"/>
          </a:ln>
        </p:spPr>
        <p:txBody>
          <a:bodyPr/>
          <a:p/>
        </p:txBody>
      </p:sp>
      <p:sp>
        <p:nvSpPr>
          <p:cNvPr id="18" name="Shape 15"/>
          <p:cNvSpPr/>
          <p:nvPr/>
        </p:nvSpPr>
        <p:spPr>
          <a:xfrm>
            <a:off x="5715000" y="2377440"/>
            <a:ext cx="731520" cy="73152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 txBox="1"/>
          <p:nvPr/>
        </p:nvSpPr>
        <p:spPr>
          <a:xfrm>
            <a:off x="5715000" y="23774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2800" dirty="0"/>
          </a:p>
        </p:txBody>
      </p:sp>
      <p:sp>
        <p:nvSpPr>
          <p:cNvPr id="20" name="Text 17"/>
          <p:cNvSpPr txBox="1"/>
          <p:nvPr/>
        </p:nvSpPr>
        <p:spPr>
          <a:xfrm>
            <a:off x="5120640" y="333756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심각도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</a:t>
            </a:r>
            <a:endParaRPr lang="en-US" sz="2000" dirty="0"/>
          </a:p>
        </p:txBody>
      </p:sp>
      <p:sp>
        <p:nvSpPr>
          <p:cNvPr id="21" name="Text 18"/>
          <p:cNvSpPr txBox="1"/>
          <p:nvPr/>
        </p:nvSpPr>
        <p:spPr>
          <a:xfrm>
            <a:off x="5166360" y="443484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공개된 규칙으로 계산</a:t>
            </a:r>
            <a:endParaRPr lang="en-US" sz="1800" dirty="0"/>
          </a:p>
        </p:txBody>
      </p:sp>
      <p:sp>
        <p:nvSpPr>
          <p:cNvPr id="22" name="Text 19"/>
          <p:cNvSpPr txBox="1"/>
          <p:nvPr/>
        </p:nvSpPr>
        <p:spPr>
          <a:xfrm>
            <a:off x="7132320" y="3474720"/>
            <a:ext cx="137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400" dirty="0"/>
          </a:p>
        </p:txBody>
      </p:sp>
      <p:sp>
        <p:nvSpPr>
          <p:cNvPr id="23" name="Shape 20"/>
          <p:cNvSpPr/>
          <p:nvPr/>
        </p:nvSpPr>
        <p:spPr>
          <a:xfrm>
            <a:off x="7269480" y="2103120"/>
            <a:ext cx="2103120" cy="3566160"/>
          </a:xfrm>
          <a:prstGeom prst="rect">
            <a:avLst/>
          </a:prstGeom>
          <a:solidFill>
            <a:srgbClr val="F2F2F2"/>
          </a:solidFill>
          <a:ln w="9525">
            <a:solidFill>
              <a:srgbClr val="D0D0D0"/>
            </a:solidFill>
            <a:prstDash val="solid"/>
          </a:ln>
        </p:spPr>
        <p:txBody>
          <a:bodyPr/>
          <a:p/>
        </p:txBody>
      </p:sp>
      <p:sp>
        <p:nvSpPr>
          <p:cNvPr id="24" name="Shape 21"/>
          <p:cNvSpPr/>
          <p:nvPr/>
        </p:nvSpPr>
        <p:spPr>
          <a:xfrm>
            <a:off x="7955280" y="2377440"/>
            <a:ext cx="731520" cy="73152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25" name="Text 22"/>
          <p:cNvSpPr txBox="1"/>
          <p:nvPr/>
        </p:nvSpPr>
        <p:spPr>
          <a:xfrm>
            <a:off x="7955280" y="23774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2800" dirty="0"/>
          </a:p>
        </p:txBody>
      </p:sp>
      <p:sp>
        <p:nvSpPr>
          <p:cNvPr id="26" name="Text 23"/>
          <p:cNvSpPr txBox="1"/>
          <p:nvPr/>
        </p:nvSpPr>
        <p:spPr>
          <a:xfrm>
            <a:off x="7360920" y="333756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조치할 일 카드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브리핑</a:t>
            </a:r>
            <a:endParaRPr lang="en-US" sz="2000" dirty="0"/>
          </a:p>
        </p:txBody>
      </p:sp>
      <p:sp>
        <p:nvSpPr>
          <p:cNvPr id="27" name="Text 24"/>
          <p:cNvSpPr txBox="1"/>
          <p:nvPr/>
        </p:nvSpPr>
        <p:spPr>
          <a:xfrm>
            <a:off x="7406640" y="443484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 먼저 할 일 순서</a:t>
            </a:r>
            <a:endParaRPr lang="en-US" sz="1800" dirty="0"/>
          </a:p>
        </p:txBody>
      </p:sp>
      <p:sp>
        <p:nvSpPr>
          <p:cNvPr id="28" name="Text 25"/>
          <p:cNvSpPr txBox="1"/>
          <p:nvPr/>
        </p:nvSpPr>
        <p:spPr>
          <a:xfrm>
            <a:off x="9372600" y="3474720"/>
            <a:ext cx="137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400" dirty="0"/>
          </a:p>
        </p:txBody>
      </p:sp>
      <p:sp>
        <p:nvSpPr>
          <p:cNvPr id="29" name="Shape 26"/>
          <p:cNvSpPr/>
          <p:nvPr/>
        </p:nvSpPr>
        <p:spPr>
          <a:xfrm>
            <a:off x="9509760" y="2103120"/>
            <a:ext cx="2103120" cy="3566160"/>
          </a:xfrm>
          <a:prstGeom prst="rect">
            <a:avLst/>
          </a:prstGeom>
          <a:solidFill>
            <a:srgbClr val="F2F2F2"/>
          </a:solidFill>
          <a:ln w="9525">
            <a:solidFill>
              <a:srgbClr val="D0D0D0"/>
            </a:solidFill>
            <a:prstDash val="solid"/>
          </a:ln>
        </p:spPr>
        <p:txBody>
          <a:bodyPr/>
          <a:p/>
        </p:txBody>
      </p:sp>
      <p:sp>
        <p:nvSpPr>
          <p:cNvPr id="30" name="Shape 27"/>
          <p:cNvSpPr/>
          <p:nvPr/>
        </p:nvSpPr>
        <p:spPr>
          <a:xfrm>
            <a:off x="10195560" y="2377440"/>
            <a:ext cx="731520" cy="73152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31" name="Text 28"/>
          <p:cNvSpPr txBox="1"/>
          <p:nvPr/>
        </p:nvSpPr>
        <p:spPr>
          <a:xfrm>
            <a:off x="10195560" y="23774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2800" dirty="0"/>
          </a:p>
        </p:txBody>
      </p:sp>
      <p:sp>
        <p:nvSpPr>
          <p:cNvPr id="32" name="Text 29"/>
          <p:cNvSpPr txBox="1"/>
          <p:nvPr/>
        </p:nvSpPr>
        <p:spPr>
          <a:xfrm>
            <a:off x="9601200" y="333756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조치요청서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DOCX</a:t>
            </a:r>
            <a:endParaRPr lang="en-US" sz="2000" dirty="0"/>
          </a:p>
        </p:txBody>
      </p:sp>
      <p:sp>
        <p:nvSpPr>
          <p:cNvPr id="33" name="Text 30"/>
          <p:cNvSpPr txBox="1"/>
          <p:nvPr/>
        </p:nvSpPr>
        <p:spPr>
          <a:xfrm>
            <a:off x="9646920" y="443484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 부서로 보낼 문서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Agent 구조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 다섯 개가 도구를 골라 쓴다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7830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Fast Path — 접수 즉시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6118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Agent Path — 주기마다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548640" y="2194560"/>
            <a:ext cx="2194560" cy="1234440"/>
          </a:xfrm>
          <a:prstGeom prst="rect">
            <a:avLst/>
          </a:prstGeom>
          <a:solidFill>
            <a:srgbClr val="F2F2F2"/>
          </a:solidFill>
          <a:ln w="12700">
            <a:solidFill>
              <a:srgbClr val="D0D0D0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640080" y="22860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QR 접수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274320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마스킹 후 저장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2743200" y="260604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800" dirty="0"/>
          </a:p>
        </p:txBody>
      </p:sp>
      <p:sp>
        <p:nvSpPr>
          <p:cNvPr id="11" name="Shape 8"/>
          <p:cNvSpPr/>
          <p:nvPr/>
        </p:nvSpPr>
        <p:spPr>
          <a:xfrm>
            <a:off x="3017520" y="2194560"/>
            <a:ext cx="2194560" cy="1234440"/>
          </a:xfrm>
          <a:prstGeom prst="rect">
            <a:avLst/>
          </a:prstGeom>
          <a:solidFill>
            <a:srgbClr val="F2F2F2"/>
          </a:solidFill>
          <a:ln w="12700">
            <a:solidFill>
              <a:srgbClr val="D0D0D0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3108960" y="22860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워커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3108960" y="274320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 큐 처리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5212080" y="260604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800" dirty="0"/>
          </a:p>
        </p:txBody>
      </p:sp>
      <p:sp>
        <p:nvSpPr>
          <p:cNvPr id="15" name="Shape 12"/>
          <p:cNvSpPr/>
          <p:nvPr/>
        </p:nvSpPr>
        <p:spPr>
          <a:xfrm>
            <a:off x="5486400" y="2194560"/>
            <a:ext cx="3291840" cy="12344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 txBox="1"/>
          <p:nvPr/>
        </p:nvSpPr>
        <p:spPr>
          <a:xfrm>
            <a:off x="5577840" y="22860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분류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5577840" y="274320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get_pending · save_classification · lookup_similar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548640" y="4023360"/>
            <a:ext cx="2103120" cy="12344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 txBox="1"/>
          <p:nvPr/>
        </p:nvSpPr>
        <p:spPr>
          <a:xfrm>
            <a:off x="640080" y="41148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⓪ 계획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640080" y="457200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plan_cycle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2651760" y="443484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800" dirty="0"/>
          </a:p>
        </p:txBody>
      </p:sp>
      <p:sp>
        <p:nvSpPr>
          <p:cNvPr id="22" name="Shape 19"/>
          <p:cNvSpPr/>
          <p:nvPr/>
        </p:nvSpPr>
        <p:spPr>
          <a:xfrm>
            <a:off x="2926080" y="4023360"/>
            <a:ext cx="2651760" cy="12344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23" name="Text 20"/>
          <p:cNvSpPr txBox="1"/>
          <p:nvPr/>
        </p:nvSpPr>
        <p:spPr>
          <a:xfrm>
            <a:off x="3017520" y="41148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감시</a:t>
            </a:r>
            <a:endParaRPr lang="en-US" sz="1800" dirty="0"/>
          </a:p>
        </p:txBody>
      </p:sp>
      <p:sp>
        <p:nvSpPr>
          <p:cNvPr id="24" name="Text 21"/>
          <p:cNvSpPr txBox="1"/>
          <p:nvPr/>
        </p:nvSpPr>
        <p:spPr>
          <a:xfrm>
            <a:off x="3017520" y="457200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get_window_stats · score_label · raise_alert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5577840" y="443484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800" dirty="0"/>
          </a:p>
        </p:txBody>
      </p:sp>
      <p:sp>
        <p:nvSpPr>
          <p:cNvPr id="26" name="Shape 23"/>
          <p:cNvSpPr/>
          <p:nvPr/>
        </p:nvSpPr>
        <p:spPr>
          <a:xfrm>
            <a:off x="5852160" y="4023360"/>
            <a:ext cx="2743200" cy="12344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27" name="Text 24"/>
          <p:cNvSpPr txBox="1"/>
          <p:nvPr/>
        </p:nvSpPr>
        <p:spPr>
          <a:xfrm>
            <a:off x="5943600" y="41148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조치</a:t>
            </a:r>
            <a:endParaRPr lang="en-US" sz="1800" dirty="0"/>
          </a:p>
        </p:txBody>
      </p:sp>
      <p:sp>
        <p:nvSpPr>
          <p:cNvPr id="28" name="Text 25"/>
          <p:cNvSpPr txBox="1"/>
          <p:nvPr/>
        </p:nvSpPr>
        <p:spPr>
          <a:xfrm>
            <a:off x="5943600" y="457200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write_request · generate_doc · collect_quotes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8595360" y="443484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800" dirty="0"/>
          </a:p>
        </p:txBody>
      </p:sp>
      <p:sp>
        <p:nvSpPr>
          <p:cNvPr id="30" name="Shape 27"/>
          <p:cNvSpPr/>
          <p:nvPr/>
        </p:nvSpPr>
        <p:spPr>
          <a:xfrm>
            <a:off x="8869680" y="4023360"/>
            <a:ext cx="2743200" cy="12344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31" name="Text 28"/>
          <p:cNvSpPr txBox="1"/>
          <p:nvPr/>
        </p:nvSpPr>
        <p:spPr>
          <a:xfrm>
            <a:off x="8961120" y="41148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통합</a:t>
            </a:r>
            <a:endParaRPr lang="en-US" sz="1800" dirty="0"/>
          </a:p>
        </p:txBody>
      </p:sp>
      <p:sp>
        <p:nvSpPr>
          <p:cNvPr id="32" name="Text 29"/>
          <p:cNvSpPr txBox="1"/>
          <p:nvPr/>
        </p:nvSpPr>
        <p:spPr>
          <a:xfrm>
            <a:off x="8961120" y="457200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rank_issues · write_briefing</a:t>
            </a:r>
            <a:endParaRPr lang="en-US" sz="1400" dirty="0"/>
          </a:p>
        </p:txBody>
      </p:sp>
      <p:sp>
        <p:nvSpPr>
          <p:cNvPr id="33" name="Text 30"/>
          <p:cNvSpPr txBox="1"/>
          <p:nvPr/>
        </p:nvSpPr>
        <p:spPr>
          <a:xfrm>
            <a:off x="548640" y="5577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모델: Claude Opus 5.5 (Claude Code CLI 경유)</a:t>
            </a:r>
            <a:endParaRPr lang="en-US" sz="1800" dirty="0"/>
          </a:p>
        </p:txBody>
      </p:sp>
      <p:sp>
        <p:nvSpPr>
          <p:cNvPr id="34" name="Text 31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CLI 경유 · 도구 이름은 기술설명서와 같음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판단은 에이전트, 계산은 함수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점수는 AI가 아니라 공개된 계산식이 정한다</a:t>
            </a:r>
            <a:endParaRPr lang="en-US" sz="2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642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96012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규칙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000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S-01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기본점수 = 빈도 60% + 부정강도 40%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S-02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안전 관련 ×2.0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S-03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급증(최근 15분이 지난 60분 평균의 2배 이상) ×1.5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S-04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같은 구역 안전 민원 1시간 3건 → 점수와 무관하게 즉시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S-05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긍정 민원은 심각도에서 제외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S-06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미조치 30분 경과 ×1.2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548640" y="5212080"/>
            <a:ext cx="11064240" cy="685800"/>
          </a:xfrm>
          <a:prstGeom prst="rect">
            <a:avLst/>
          </a:prstGeom>
          <a:solidFill>
            <a:srgbClr val="F2F2F2"/>
          </a:solidFill>
          <a:ln w="9525">
            <a:solidFill>
              <a:srgbClr val="D0D0D0"/>
            </a:solidFill>
            <a:prstDash val="solid"/>
          </a:ln>
        </p:spPr>
        <p:txBody>
          <a:bodyPr/>
          <a:p/>
        </p:txBody>
      </p:sp>
      <p:sp>
        <p:nvSpPr>
          <p:cNvPr id="7" name="Text 3"/>
          <p:cNvSpPr txBox="1"/>
          <p:nvPr/>
        </p:nvSpPr>
        <p:spPr>
          <a:xfrm>
            <a:off x="731520" y="5212080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계산식  점수 = (빈도 × 60% + 강도 × 40%) × 안전 2.0 × 급증 1.5 × 미조치 1.2</a:t>
            </a:r>
            <a:endParaRPr lang="en-US" sz="20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근거: 행정안전부 지역축제장 안전관리 매뉴얼 · 다중운집인파사고 안전관리 가이드라인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기억·피드백·안전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운영자 판단이 다음 판정에 돌아간다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8288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기억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548640" y="2286000"/>
            <a:ext cx="2011680" cy="822960"/>
          </a:xfrm>
          <a:prstGeom prst="rect">
            <a:avLst/>
          </a:prstGeom>
          <a:solidFill>
            <a:srgbClr val="F2F2F2"/>
          </a:solidFill>
          <a:ln w="12700">
            <a:solidFill>
              <a:srgbClr val="D0D0D0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 txBox="1"/>
          <p:nvPr/>
        </p:nvSpPr>
        <p:spPr>
          <a:xfrm>
            <a:off x="548640" y="228600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분류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2560320" y="2286000"/>
            <a:ext cx="365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800" dirty="0"/>
          </a:p>
        </p:txBody>
      </p:sp>
      <p:sp>
        <p:nvSpPr>
          <p:cNvPr id="9" name="Shape 6"/>
          <p:cNvSpPr/>
          <p:nvPr/>
        </p:nvSpPr>
        <p:spPr>
          <a:xfrm>
            <a:off x="2926080" y="2286000"/>
            <a:ext cx="2011680" cy="822960"/>
          </a:xfrm>
          <a:prstGeom prst="rect">
            <a:avLst/>
          </a:prstGeom>
          <a:solidFill>
            <a:srgbClr val="F2F2F2"/>
          </a:solidFill>
          <a:ln w="12700">
            <a:solidFill>
              <a:srgbClr val="D0D0D0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2926080" y="228600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필요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4937760" y="2286000"/>
            <a:ext cx="365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800" dirty="0"/>
          </a:p>
        </p:txBody>
      </p:sp>
      <p:sp>
        <p:nvSpPr>
          <p:cNvPr id="12" name="Shape 9"/>
          <p:cNvSpPr/>
          <p:nvPr/>
        </p:nvSpPr>
        <p:spPr>
          <a:xfrm>
            <a:off x="5303520" y="2286000"/>
            <a:ext cx="2011680" cy="822960"/>
          </a:xfrm>
          <a:prstGeom prst="rect">
            <a:avLst/>
          </a:prstGeom>
          <a:solidFill>
            <a:srgbClr val="F2F2F2"/>
          </a:solidFill>
          <a:ln w="12700">
            <a:solidFill>
              <a:srgbClr val="D0D0D0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 txBox="1"/>
          <p:nvPr/>
        </p:nvSpPr>
        <p:spPr>
          <a:xfrm>
            <a:off x="5303520" y="228600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운영자 지정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7315200" y="2286000"/>
            <a:ext cx="365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800" dirty="0"/>
          </a:p>
        </p:txBody>
      </p:sp>
      <p:sp>
        <p:nvSpPr>
          <p:cNvPr id="15" name="Shape 12"/>
          <p:cNvSpPr/>
          <p:nvPr/>
        </p:nvSpPr>
        <p:spPr>
          <a:xfrm>
            <a:off x="7680960" y="2286000"/>
            <a:ext cx="2011680" cy="8229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 txBox="1"/>
          <p:nvPr/>
        </p:nvSpPr>
        <p:spPr>
          <a:xfrm>
            <a:off x="7680960" y="228600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기억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548640" y="34290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피드백</a:t>
            </a:r>
            <a:endParaRPr lang="en-US" sz="1800" dirty="0"/>
          </a:p>
        </p:txBody>
      </p:sp>
      <p:sp>
        <p:nvSpPr>
          <p:cNvPr id="18" name="Shape 15"/>
          <p:cNvSpPr/>
          <p:nvPr/>
        </p:nvSpPr>
        <p:spPr>
          <a:xfrm>
            <a:off x="548640" y="3886200"/>
            <a:ext cx="2011680" cy="822960"/>
          </a:xfrm>
          <a:prstGeom prst="rect">
            <a:avLst/>
          </a:prstGeom>
          <a:solidFill>
            <a:srgbClr val="F2F2F2"/>
          </a:solidFill>
          <a:ln w="12700">
            <a:solidFill>
              <a:srgbClr val="D0D0D0"/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 txBox="1"/>
          <p:nvPr/>
        </p:nvSpPr>
        <p:spPr>
          <a:xfrm>
            <a:off x="548640" y="388620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조치 상태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2560320" y="3886200"/>
            <a:ext cx="365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800" dirty="0"/>
          </a:p>
        </p:txBody>
      </p:sp>
      <p:sp>
        <p:nvSpPr>
          <p:cNvPr id="21" name="Shape 18"/>
          <p:cNvSpPr/>
          <p:nvPr/>
        </p:nvSpPr>
        <p:spPr>
          <a:xfrm>
            <a:off x="2926080" y="3886200"/>
            <a:ext cx="2011680" cy="8229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22" name="Text 19"/>
          <p:cNvSpPr txBox="1"/>
          <p:nvPr/>
        </p:nvSpPr>
        <p:spPr>
          <a:xfrm>
            <a:off x="2926080" y="388620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S-06 미조치 ×1.2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548640" y="5029200"/>
            <a:ext cx="1106424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  <a:prstDash val="solid"/>
          </a:ln>
        </p:spPr>
        <p:txBody>
          <a:bodyPr/>
          <a:p/>
        </p:txBody>
      </p:sp>
      <p:sp>
        <p:nvSpPr>
          <p:cNvPr id="24" name="Text 21"/>
          <p:cNvSpPr txBox="1"/>
          <p:nvPr/>
        </p:nvSpPr>
        <p:spPr>
          <a:xfrm>
            <a:off x="777240" y="5074920"/>
            <a:ext cx="10607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개인정보 마스킹: 연락처는 저장 전에 가림</a:t>
            </a:r>
            <a:endParaRPr lang="en-US" sz="18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 인젝션 탐지</a:t>
            </a:r>
            <a:endParaRPr lang="en-US" sz="18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고위험 조치(대피 등)는 AI가 제안만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시연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 → 판단 → 도구 → 결과</a:t>
            </a:r>
            <a:endParaRPr lang="en-US" sz="2200" dirty="0"/>
          </a:p>
        </p:txBody>
      </p:sp>
      <p:pic>
        <p:nvPicPr>
          <p:cNvPr id="11" name="Picture 10" descr="_slide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828800"/>
            <a:ext cx="7315200" cy="411480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8138160" y="1828800"/>
            <a:ext cx="3474720" cy="23774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7" name="Text 3"/>
          <p:cNvSpPr txBox="1"/>
          <p:nvPr/>
        </p:nvSpPr>
        <p:spPr>
          <a:xfrm>
            <a:off x="8138160" y="1828800"/>
            <a:ext cx="3474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시연영상_철철철.mp4</a:t>
            </a:r>
            <a:endParaRPr lang="en-US" sz="2400" dirty="0"/>
          </a:p>
        </p:txBody>
      </p:sp>
      <p:sp>
        <p:nvSpPr>
          <p:cNvPr id="8" name="Text 4"/>
          <p:cNvSpPr txBox="1"/>
          <p:nvPr/>
        </p:nvSpPr>
        <p:spPr>
          <a:xfrm>
            <a:off x="8138160" y="324612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(2분 29초)</a:t>
            </a:r>
            <a:endParaRPr lang="en-US" sz="2400" dirty="0"/>
          </a:p>
        </p:txBody>
      </p:sp>
      <p:sp>
        <p:nvSpPr>
          <p:cNvPr id="9" name="Text 5"/>
          <p:cNvSpPr txBox="1"/>
          <p:nvPr/>
        </p:nvSpPr>
        <p:spPr>
          <a:xfrm>
            <a:off x="8138160" y="43891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제출 영상 · 3분 이내</a:t>
            </a:r>
            <a:endParaRPr lang="en-US" sz="20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Code 실모델·시연 DB·가상 민원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성과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안전이 1위로 올라온다</a:t>
            </a:r>
            <a:endParaRPr lang="en-US" sz="2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475488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828800"/>
                <a:gridCol w="1828800"/>
              </a:tblGrid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Before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After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0000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기준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건수 1위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심각도 1위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유형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주차/교통 54건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안전 11건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등급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보통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높음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5669280" y="1828800"/>
            <a:ext cx="2926080" cy="1325880"/>
          </a:xfrm>
          <a:prstGeom prst="rect">
            <a:avLst/>
          </a:prstGeom>
          <a:solidFill>
            <a:srgbClr val="F2F2F2"/>
          </a:solidFill>
          <a:ln w="9525">
            <a:solidFill>
              <a:srgbClr val="D0D0D0"/>
            </a:solidFill>
            <a:prstDash val="solid"/>
          </a:ln>
        </p:spPr>
        <p:txBody>
          <a:bodyPr/>
          <a:p/>
        </p:txBody>
      </p:sp>
      <p:sp>
        <p:nvSpPr>
          <p:cNvPr id="7" name="Text 3"/>
          <p:cNvSpPr txBox="1"/>
          <p:nvPr/>
        </p:nvSpPr>
        <p:spPr>
          <a:xfrm>
            <a:off x="5806440" y="1901952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5/5</a:t>
            </a:r>
            <a:endParaRPr lang="en-US" sz="2800" dirty="0"/>
          </a:p>
        </p:txBody>
      </p:sp>
      <p:sp>
        <p:nvSpPr>
          <p:cNvPr id="8" name="Text 4"/>
          <p:cNvSpPr txBox="1"/>
          <p:nvPr/>
        </p:nvSpPr>
        <p:spPr>
          <a:xfrm>
            <a:off x="5806440" y="2450592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대표 시험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8686800" y="1828800"/>
            <a:ext cx="2926080" cy="1325880"/>
          </a:xfrm>
          <a:prstGeom prst="rect">
            <a:avLst/>
          </a:prstGeom>
          <a:solidFill>
            <a:srgbClr val="F2F2F2"/>
          </a:solidFill>
          <a:ln w="9525">
            <a:solidFill>
              <a:srgbClr val="D0D0D0"/>
            </a:solidFill>
            <a:prstDash val="solid"/>
          </a:ln>
        </p:spPr>
        <p:txBody>
          <a:bodyPr/>
          <a:p/>
        </p:txBody>
      </p:sp>
      <p:sp>
        <p:nvSpPr>
          <p:cNvPr id="10" name="Text 6"/>
          <p:cNvSpPr txBox="1"/>
          <p:nvPr/>
        </p:nvSpPr>
        <p:spPr>
          <a:xfrm>
            <a:off x="8823960" y="1901952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96.9%</a:t>
            </a:r>
            <a:endParaRPr lang="en-US" sz="2800" dirty="0"/>
          </a:p>
        </p:txBody>
      </p:sp>
      <p:sp>
        <p:nvSpPr>
          <p:cNvPr id="11" name="Text 7"/>
          <p:cNvSpPr txBox="1"/>
          <p:nvPr/>
        </p:nvSpPr>
        <p:spPr>
          <a:xfrm>
            <a:off x="8823960" y="2450592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정확도 (합성 32건 기준 참고값)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5669280" y="3246120"/>
            <a:ext cx="2926080" cy="1325880"/>
          </a:xfrm>
          <a:prstGeom prst="rect">
            <a:avLst/>
          </a:prstGeom>
          <a:solidFill>
            <a:srgbClr val="F2F2F2"/>
          </a:solidFill>
          <a:ln w="9525">
            <a:solidFill>
              <a:srgbClr val="D0D0D0"/>
            </a:solidFill>
            <a:prstDash val="solid"/>
          </a:ln>
        </p:spPr>
        <p:txBody>
          <a:bodyPr/>
          <a:p/>
        </p:txBody>
      </p:sp>
      <p:sp>
        <p:nvSpPr>
          <p:cNvPr id="13" name="Text 9"/>
          <p:cNvSpPr txBox="1"/>
          <p:nvPr/>
        </p:nvSpPr>
        <p:spPr>
          <a:xfrm>
            <a:off x="5806440" y="3319272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26/26</a:t>
            </a:r>
            <a:endParaRPr lang="en-US" sz="2800" dirty="0"/>
          </a:p>
        </p:txBody>
      </p:sp>
      <p:sp>
        <p:nvSpPr>
          <p:cNvPr id="14" name="Text 10"/>
          <p:cNvSpPr txBox="1"/>
          <p:nvPr/>
        </p:nvSpPr>
        <p:spPr>
          <a:xfrm>
            <a:off x="5806440" y="3867912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공격 점검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8686800" y="3246120"/>
            <a:ext cx="2926080" cy="1325880"/>
          </a:xfrm>
          <a:prstGeom prst="rect">
            <a:avLst/>
          </a:prstGeom>
          <a:solidFill>
            <a:srgbClr val="F2F2F2"/>
          </a:solidFill>
          <a:ln w="9525">
            <a:solidFill>
              <a:srgbClr val="D0D0D0"/>
            </a:solidFill>
            <a:prstDash val="solid"/>
          </a:ln>
        </p:spPr>
        <p:txBody>
          <a:bodyPr/>
          <a:p/>
        </p:txBody>
      </p:sp>
      <p:sp>
        <p:nvSpPr>
          <p:cNvPr id="16" name="Text 12"/>
          <p:cNvSpPr txBox="1"/>
          <p:nvPr/>
        </p:nvSpPr>
        <p:spPr>
          <a:xfrm>
            <a:off x="8823960" y="3319272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81/81</a:t>
            </a:r>
            <a:endParaRPr lang="en-US" sz="2800" dirty="0"/>
          </a:p>
        </p:txBody>
      </p:sp>
      <p:sp>
        <p:nvSpPr>
          <p:cNvPr id="17" name="Text 13"/>
          <p:cNvSpPr txBox="1"/>
          <p:nvPr/>
        </p:nvSpPr>
        <p:spPr>
          <a:xfrm>
            <a:off x="8823960" y="3867912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가중치 ±20% 유지</a:t>
            </a:r>
            <a:endParaRPr lang="en-US" sz="1400" dirty="0"/>
          </a:p>
        </p:txBody>
      </p:sp>
      <p:sp>
        <p:nvSpPr>
          <p:cNvPr id="18" name="Shape 14"/>
          <p:cNvSpPr/>
          <p:nvPr/>
        </p:nvSpPr>
        <p:spPr>
          <a:xfrm>
            <a:off x="5669280" y="4663440"/>
            <a:ext cx="2926080" cy="1325880"/>
          </a:xfrm>
          <a:prstGeom prst="rect">
            <a:avLst/>
          </a:prstGeom>
          <a:solidFill>
            <a:srgbClr val="F2F2F2"/>
          </a:solidFill>
          <a:ln w="9525">
            <a:solidFill>
              <a:srgbClr val="D0D0D0"/>
            </a:solidFill>
            <a:prstDash val="solid"/>
          </a:ln>
        </p:spPr>
        <p:txBody>
          <a:bodyPr/>
          <a:p/>
        </p:txBody>
      </p:sp>
      <p:sp>
        <p:nvSpPr>
          <p:cNvPr id="19" name="Text 15"/>
          <p:cNvSpPr txBox="1"/>
          <p:nvPr/>
        </p:nvSpPr>
        <p:spPr>
          <a:xfrm>
            <a:off x="5806440" y="4736592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18:34</a:t>
            </a:r>
            <a:endParaRPr lang="en-US" sz="2800" dirty="0"/>
          </a:p>
        </p:txBody>
      </p:sp>
      <p:sp>
        <p:nvSpPr>
          <p:cNvPr id="20" name="Text 16"/>
          <p:cNvSpPr txBox="1"/>
          <p:nvPr/>
        </p:nvSpPr>
        <p:spPr>
          <a:xfrm>
            <a:off x="5806440" y="5285232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이태원 112 녹취 재현, 첫 신고 즉시 (규칙 분류로 재현)</a:t>
            </a:r>
            <a:endParaRPr lang="en-US" sz="1400" dirty="0"/>
          </a:p>
        </p:txBody>
      </p:sp>
      <p:sp>
        <p:nvSpPr>
          <p:cNvPr id="24" name="Text 20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개발용 합성 시드 160건 · 규칙 분류 · 실제 축제 민원이 아님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비즈니스 모델·한계·발전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설정만 바꿔 다음 축제로 옮긴다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78308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비즈니스 모델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240280"/>
            <a:ext cx="53949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  시군 축제 부서 (경남 18개 시군 · 축제 135개)</a:t>
            </a:r>
            <a:endParaRPr lang="en-US" sz="18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수익  행사 패키지 → 연간 구독 (금액은 실증 후)</a:t>
            </a:r>
            <a:endParaRPr lang="en-US" sz="18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확장  경남 시군 축제 → 지자체 상시 민원 → 대규모 행사 일반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6309360" y="178308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한계와 보완 계획</a:t>
            </a:r>
            <a:endParaRPr lang="en-US" sz="2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2240280"/>
          <a:ext cx="530352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560320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한계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보완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0000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합성 데이터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실제 민원으로 재측정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지연 5회 측정, p90 11.3초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20회 이상 재측정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CLI 경유 호출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API 직접 호출로 전환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관리자 로그인 없음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Supabase Auth 적용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실시간 축제 민원 관제 AI Agent</dc:title>
  <dc:subject>PptxGenJS Presentation</dc:subject>
  <dc:creator>철철철</dc:creator>
  <cp:lastModifiedBy>철철철</cp:lastModifiedBy>
  <cp:revision>1</cp:revision>
  <dcterms:created xsi:type="dcterms:W3CDTF">2026-10-05T13:06:41Z</dcterms:created>
  <dcterms:modified xsi:type="dcterms:W3CDTF">2026-10-05T13:06:41Z</dcterms:modified>
</cp:coreProperties>
</file>